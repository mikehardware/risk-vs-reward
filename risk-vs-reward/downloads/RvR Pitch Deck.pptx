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0FA297-DCE8-4DEA-9461-061B3EE3F7C0}" v="1" dt="2026-06-24T13:48:37.33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horn, Edward T CTR USARMY DEVCOM AVMC (USA)" userId="7a9d6bf3-9979-43d7-8feb-a5f9b28971dc" providerId="ADAL" clId="{16160C79-E3CA-4BE2-AA28-CFA8EC91E74C}"/>
    <pc:docChg chg="custSel modSld">
      <pc:chgData name="Lawhorn, Edward T CTR USARMY DEVCOM AVMC (USA)" userId="7a9d6bf3-9979-43d7-8feb-a5f9b28971dc" providerId="ADAL" clId="{16160C79-E3CA-4BE2-AA28-CFA8EC91E74C}" dt="2026-06-24T13:47:36.594" v="200" actId="1076"/>
      <pc:docMkLst>
        <pc:docMk/>
      </pc:docMkLst>
      <pc:sldChg chg="modSp mod">
        <pc:chgData name="Lawhorn, Edward T CTR USARMY DEVCOM AVMC (USA)" userId="7a9d6bf3-9979-43d7-8feb-a5f9b28971dc" providerId="ADAL" clId="{16160C79-E3CA-4BE2-AA28-CFA8EC91E74C}" dt="2026-06-22T13:32:32.657" v="72" actId="20577"/>
        <pc:sldMkLst>
          <pc:docMk/>
          <pc:sldMk cId="0" sldId="256"/>
        </pc:sldMkLst>
        <pc:spChg chg="mod">
          <ac:chgData name="Lawhorn, Edward T CTR USARMY DEVCOM AVMC (USA)" userId="7a9d6bf3-9979-43d7-8feb-a5f9b28971dc" providerId="ADAL" clId="{16160C79-E3CA-4BE2-AA28-CFA8EC91E74C}" dt="2026-06-22T13:32:32.657" v="72" actId="20577"/>
          <ac:spMkLst>
            <pc:docMk/>
            <pc:sldMk cId="0" sldId="256"/>
            <ac:spMk id="4" creationId="{2EC8EBA1-BB96-4349-F1B1-C9DA5A3CD3E0}"/>
          </ac:spMkLst>
        </pc:spChg>
      </pc:sldChg>
      <pc:sldChg chg="delSp modSp mod delAnim">
        <pc:chgData name="Lawhorn, Edward T CTR USARMY DEVCOM AVMC (USA)" userId="7a9d6bf3-9979-43d7-8feb-a5f9b28971dc" providerId="ADAL" clId="{16160C79-E3CA-4BE2-AA28-CFA8EC91E74C}" dt="2026-06-24T13:47:36.594" v="200" actId="1076"/>
        <pc:sldMkLst>
          <pc:docMk/>
          <pc:sldMk cId="0" sldId="258"/>
        </pc:sldMkLst>
        <pc:spChg chg="mod">
          <ac:chgData name="Lawhorn, Edward T CTR USARMY DEVCOM AVMC (USA)" userId="7a9d6bf3-9979-43d7-8feb-a5f9b28971dc" providerId="ADAL" clId="{16160C79-E3CA-4BE2-AA28-CFA8EC91E74C}" dt="2026-06-24T13:27:58.478" v="159" actId="20577"/>
          <ac:spMkLst>
            <pc:docMk/>
            <pc:sldMk cId="0" sldId="258"/>
            <ac:spMk id="105" creationId="{00000000-0000-0000-0000-000000000000}"/>
          </ac:spMkLst>
        </pc:spChg>
        <pc:spChg chg="mod">
          <ac:chgData name="Lawhorn, Edward T CTR USARMY DEVCOM AVMC (USA)" userId="7a9d6bf3-9979-43d7-8feb-a5f9b28971dc" providerId="ADAL" clId="{16160C79-E3CA-4BE2-AA28-CFA8EC91E74C}" dt="2026-06-24T13:47:36.594" v="200" actId="1076"/>
          <ac:spMkLst>
            <pc:docMk/>
            <pc:sldMk cId="0" sldId="258"/>
            <ac:spMk id="106" creationId="{00000000-0000-0000-0000-000000000000}"/>
          </ac:spMkLst>
        </pc:spChg>
        <pc:picChg chg="del">
          <ac:chgData name="Lawhorn, Edward T CTR USARMY DEVCOM AVMC (USA)" userId="7a9d6bf3-9979-43d7-8feb-a5f9b28971dc" providerId="ADAL" clId="{16160C79-E3CA-4BE2-AA28-CFA8EC91E74C}" dt="2026-06-24T13:45:50.037" v="160" actId="478"/>
          <ac:picMkLst>
            <pc:docMk/>
            <pc:sldMk cId="0" sldId="258"/>
            <ac:picMk id="107" creationId="{00000000-0000-0000-0000-000000000000}"/>
          </ac:picMkLst>
        </pc:picChg>
      </pc:sldChg>
      <pc:sldChg chg="modSp mod">
        <pc:chgData name="Lawhorn, Edward T CTR USARMY DEVCOM AVMC (USA)" userId="7a9d6bf3-9979-43d7-8feb-a5f9b28971dc" providerId="ADAL" clId="{16160C79-E3CA-4BE2-AA28-CFA8EC91E74C}" dt="2026-06-22T13:38:25.741" v="158" actId="14100"/>
        <pc:sldMkLst>
          <pc:docMk/>
          <pc:sldMk cId="0" sldId="259"/>
        </pc:sldMkLst>
        <pc:spChg chg="mod">
          <ac:chgData name="Lawhorn, Edward T CTR USARMY DEVCOM AVMC (USA)" userId="7a9d6bf3-9979-43d7-8feb-a5f9b28971dc" providerId="ADAL" clId="{16160C79-E3CA-4BE2-AA28-CFA8EC91E74C}" dt="2026-06-22T13:38:25.741" v="158" actId="14100"/>
          <ac:spMkLst>
            <pc:docMk/>
            <pc:sldMk cId="0" sldId="259"/>
            <ac:spMk id="110" creationId="{00000000-0000-0000-0000-000000000000}"/>
          </ac:spMkLst>
        </pc:spChg>
      </pc:sldChg>
      <pc:sldChg chg="modSp mod">
        <pc:chgData name="Lawhorn, Edward T CTR USARMY DEVCOM AVMC (USA)" userId="7a9d6bf3-9979-43d7-8feb-a5f9b28971dc" providerId="ADAL" clId="{16160C79-E3CA-4BE2-AA28-CFA8EC91E74C}" dt="2026-06-22T13:33:29.850" v="133" actId="113"/>
        <pc:sldMkLst>
          <pc:docMk/>
          <pc:sldMk cId="0" sldId="260"/>
        </pc:sldMkLst>
        <pc:spChg chg="mod">
          <ac:chgData name="Lawhorn, Edward T CTR USARMY DEVCOM AVMC (USA)" userId="7a9d6bf3-9979-43d7-8feb-a5f9b28971dc" providerId="ADAL" clId="{16160C79-E3CA-4BE2-AA28-CFA8EC91E74C}" dt="2026-06-22T13:33:29.850" v="133" actId="113"/>
          <ac:spMkLst>
            <pc:docMk/>
            <pc:sldMk cId="0" sldId="260"/>
            <ac:spMk id="11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400" b="0" i="0" u="none" strike="noStrike">
                <a:solidFill>
                  <a:srgbClr val="595959"/>
                </a:solidFill>
                <a:latin typeface="Aptos"/>
              </a:defRPr>
            </a:pPr>
            <a:r>
              <a:rPr lang="en-US" sz="1400" b="0" i="0" u="none" strike="noStrike">
                <a:solidFill>
                  <a:srgbClr val="595959"/>
                </a:solidFill>
                <a:latin typeface="Aptos"/>
              </a:rPr>
              <a:t>Path to the Million</a:t>
            </a:r>
          </a:p>
        </c:rich>
      </c:tx>
      <c:layout>
        <c:manualLayout>
          <c:xMode val="edge"/>
          <c:yMode val="edge"/>
          <c:x val="0.33799400000000002"/>
          <c:y val="0"/>
          <c:w val="0.324013"/>
          <c:h val="0.119467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19815199999999999"/>
          <c:y val="0.119467"/>
          <c:w val="0.796848"/>
          <c:h val="0.8083000000000000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Series2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miter lim="800000"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1000</c:v>
                </c:pt>
                <c:pt idx="1">
                  <c:v>1873.82</c:v>
                </c:pt>
                <c:pt idx="2">
                  <c:v>3511.19</c:v>
                </c:pt>
                <c:pt idx="3">
                  <c:v>6579.33</c:v>
                </c:pt>
                <c:pt idx="4">
                  <c:v>12328.47</c:v>
                </c:pt>
                <c:pt idx="5">
                  <c:v>23101.3</c:v>
                </c:pt>
                <c:pt idx="6">
                  <c:v>43287.61</c:v>
                </c:pt>
                <c:pt idx="7">
                  <c:v>81113.08</c:v>
                </c:pt>
                <c:pt idx="8">
                  <c:v>151991.10999999999</c:v>
                </c:pt>
                <c:pt idx="9">
                  <c:v>284803.59000000003</c:v>
                </c:pt>
                <c:pt idx="10">
                  <c:v>533669.92000000004</c:v>
                </c:pt>
                <c:pt idx="11">
                  <c:v>1000000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E6-4489-A1B2-E22AF23AE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100000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&quot;$&quot;#,##0.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crossBetween val="between"/>
        <c:majorUnit val="250000"/>
        <c:minorUnit val="125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solidFill>
      <a:srgbClr val="D9F2D0"/>
    </a:solidFill>
    <a:ln w="12700" cap="flat">
      <a:solidFill>
        <a:srgbClr val="D9D9D9"/>
      </a:solidFill>
      <a:prstDash val="solid"/>
      <a:round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ddielawhorn.com/risk-vs-reward/gam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ddielawhorn.com/risk-vs-reward/game/downloads/Media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ddielawhorn.com/risk-vs-reward/gam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3"/>
          <p:cNvSpPr txBox="1"/>
          <p:nvPr/>
        </p:nvSpPr>
        <p:spPr>
          <a:xfrm>
            <a:off x="3316140" y="51927"/>
            <a:ext cx="6215972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5400" b="1" i="1">
                <a:solidFill>
                  <a:srgbClr val="FF0000"/>
                </a:solidFill>
              </a:defRPr>
            </a:pPr>
            <a:r>
              <a:rPr sz="6000" dirty="0"/>
              <a:t>RISK</a:t>
            </a:r>
            <a:r>
              <a:rPr sz="6000" dirty="0">
                <a:solidFill>
                  <a:srgbClr val="000000"/>
                </a:solidFill>
              </a:rPr>
              <a:t> </a:t>
            </a:r>
            <a:r>
              <a:rPr sz="6000" dirty="0">
                <a:solidFill>
                  <a:schemeClr val="tx1"/>
                </a:solidFill>
              </a:rPr>
              <a:t>vs. </a:t>
            </a:r>
            <a:r>
              <a:rPr sz="6000" dirty="0">
                <a:solidFill>
                  <a:srgbClr val="00B050"/>
                </a:solidFill>
              </a:rPr>
              <a:t>REWARD</a:t>
            </a:r>
          </a:p>
        </p:txBody>
      </p:sp>
      <p:sp>
        <p:nvSpPr>
          <p:cNvPr id="95" name="TextBox 4"/>
          <p:cNvSpPr txBox="1"/>
          <p:nvPr/>
        </p:nvSpPr>
        <p:spPr>
          <a:xfrm>
            <a:off x="3316140" y="963286"/>
            <a:ext cx="621597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i="1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How much would you bet you’re right?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96" name="TextBox 5"/>
          <p:cNvSpPr txBox="1"/>
          <p:nvPr/>
        </p:nvSpPr>
        <p:spPr>
          <a:xfrm>
            <a:off x="2879213" y="5790410"/>
            <a:ext cx="7089827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Created by: Eddie Lawhorn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📧 eddielawhorn@</a:t>
            </a:r>
            <a:r>
              <a:rPr lang="en-US" sz="1200" dirty="0">
                <a:solidFill>
                  <a:schemeClr val="tx1"/>
                </a:solidFill>
              </a:rPr>
              <a:t>bellsouth</a:t>
            </a:r>
            <a:r>
              <a:rPr sz="1200" dirty="0">
                <a:solidFill>
                  <a:schemeClr val="tx1"/>
                </a:solidFill>
              </a:rPr>
              <a:t>.com | 📞 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sz="1200" dirty="0">
                <a:solidFill>
                  <a:schemeClr val="tx1"/>
                </a:solidFill>
              </a:rPr>
              <a:t>256</a:t>
            </a:r>
            <a:r>
              <a:rPr lang="en-US" sz="1200" dirty="0">
                <a:solidFill>
                  <a:schemeClr val="tx1"/>
                </a:solidFill>
              </a:rPr>
              <a:t>) </a:t>
            </a:r>
            <a:r>
              <a:rPr sz="1200" dirty="0">
                <a:solidFill>
                  <a:schemeClr val="tx1"/>
                </a:solidFill>
              </a:rPr>
              <a:t>975-2238 | 🌐 eddielawhorn.com</a:t>
            </a:r>
            <a:endParaRPr lang="en-US" sz="1200" dirty="0">
              <a:solidFill>
                <a:schemeClr val="tx1"/>
              </a:solidFill>
            </a:endParaRPr>
          </a:p>
          <a:p>
            <a:pPr algn="ctr">
              <a:defRPr>
                <a:solidFill>
                  <a:srgbClr val="FFFFFF"/>
                </a:solidFill>
              </a:defRPr>
            </a:pP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A </a:t>
            </a:r>
            <a:r>
              <a:rPr lang="en-US" sz="1200" b="1" dirty="0">
                <a:solidFill>
                  <a:schemeClr val="tx1"/>
                </a:solidFill>
              </a:rPr>
              <a:t>working prototype </a:t>
            </a:r>
            <a:r>
              <a:rPr lang="en-US" sz="1200" dirty="0">
                <a:solidFill>
                  <a:schemeClr val="tx1"/>
                </a:solidFill>
              </a:rPr>
              <a:t>demonstrates the real-time risk system and evolving earning trajectory at: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hlinkClick r:id="rId2"/>
              </a:rPr>
              <a:t>https://eddielawhorn.com/risk-vs-reward/game</a:t>
            </a:r>
            <a:r>
              <a:rPr lang="en-US" sz="1200" dirty="0"/>
              <a:t> </a:t>
            </a:r>
            <a:endParaRPr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99E7A-D934-C1D2-C5A4-CA56B6CDE6A9}"/>
              </a:ext>
            </a:extLst>
          </p:cNvPr>
          <p:cNvSpPr txBox="1"/>
          <p:nvPr/>
        </p:nvSpPr>
        <p:spPr>
          <a:xfrm>
            <a:off x="2289499" y="1517083"/>
            <a:ext cx="826925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A real-time trivia game where contestants wager their confidence on every answer, shaping how much they can win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or lose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throughout the game.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F2225-C05E-9683-6BD1-CD9CF2671EAE}"/>
              </a:ext>
            </a:extLst>
          </p:cNvPr>
          <p:cNvSpPr txBox="1"/>
          <p:nvPr/>
        </p:nvSpPr>
        <p:spPr>
          <a:xfrm>
            <a:off x="1625860" y="2270886"/>
            <a:ext cx="959653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Format: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1-Hour Studio Game Show     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Players: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Solo or Couples     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Structure: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12 Questions per Game</a:t>
            </a:r>
            <a:b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</a:b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Episodes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: 2 Games per Episode	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Prize Range: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$0.01 to $1,000,000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8EBA1-BB96-4349-F1B1-C9DA5A3CD3E0}"/>
              </a:ext>
            </a:extLst>
          </p:cNvPr>
          <p:cNvSpPr txBox="1"/>
          <p:nvPr/>
        </p:nvSpPr>
        <p:spPr>
          <a:xfrm>
            <a:off x="3559628" y="2910189"/>
            <a:ext cx="5728996" cy="2277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THE HOOK</a:t>
            </a:r>
            <a:b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</a:b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RISK vs. REWARD transforms trivia into a real-time decision system where confidence directly controls financial outcome.</a:t>
            </a:r>
            <a:b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</a:b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As contestants adjust a live slider before each answer, they instantly see:</a:t>
            </a:r>
            <a:b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</a:b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     • what they will win if correct</a:t>
            </a:r>
            <a:b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</a:b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     • what they will lose if wrong</a:t>
            </a:r>
            <a:b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</a:b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     • and how  much they can still win going forward</a:t>
            </a:r>
            <a:b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</a:br>
            <a:endParaRPr kumimoji="0" lang="en-US" sz="1400" b="0" i="1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Every decision permanently shapes the path to the final prize.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85EF2-6639-61F6-32A1-A829F646325B}"/>
              </a:ext>
            </a:extLst>
          </p:cNvPr>
          <p:cNvSpPr txBox="1"/>
          <p:nvPr/>
        </p:nvSpPr>
        <p:spPr>
          <a:xfrm>
            <a:off x="3680927" y="5265516"/>
            <a:ext cx="548639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NOT A QUIZ SHOW. A DECISION SYSTEM.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3"/>
          <p:cNvSpPr txBox="1"/>
          <p:nvPr/>
        </p:nvSpPr>
        <p:spPr>
          <a:xfrm>
            <a:off x="1014923" y="643714"/>
            <a:ext cx="276372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Concept Overview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1014923" y="1617044"/>
            <a:ext cx="354690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What is RISK vs. REWARD?</a:t>
            </a:r>
          </a:p>
        </p:txBody>
      </p:sp>
      <p:sp>
        <p:nvSpPr>
          <p:cNvPr id="100" name="TextBox 11"/>
          <p:cNvSpPr txBox="1"/>
          <p:nvPr/>
        </p:nvSpPr>
        <p:spPr>
          <a:xfrm>
            <a:off x="1014923" y="2475131"/>
            <a:ext cx="5408252" cy="344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 high-stakes trivia game show where contestants control their fate using a dynamic RISK/REWARD slider.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dirty="0">
              <a:solidFill>
                <a:schemeClr val="tx1"/>
              </a:solidFill>
            </a:endParaRP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Each of 12 questions lets them choose a category and set how much they’re willing to risk – and how much they stand to gain.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dirty="0">
              <a:solidFill>
                <a:schemeClr val="tx1"/>
              </a:solidFill>
            </a:endParaRP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The more they risk, the more they can win… or lose.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dirty="0">
              <a:solidFill>
                <a:schemeClr val="tx1"/>
              </a:solidFill>
            </a:endParaRP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At maximum risk, a perfect game earns $1,000,000. Miss every question? You still walk away with $0.01.</a:t>
            </a:r>
          </a:p>
        </p:txBody>
      </p:sp>
      <p:sp>
        <p:nvSpPr>
          <p:cNvPr id="101" name="TextBox 1"/>
          <p:cNvSpPr txBox="1"/>
          <p:nvPr/>
        </p:nvSpPr>
        <p:spPr>
          <a:xfrm>
            <a:off x="7425445" y="212826"/>
            <a:ext cx="4031024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 deceptively easy question… worth a million dollars. 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Would you know it – or how much would you RISK?</a:t>
            </a:r>
          </a:p>
        </p:txBody>
      </p:sp>
      <p:pic>
        <p:nvPicPr>
          <p:cNvPr id="10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880" y="684653"/>
            <a:ext cx="5591304" cy="57721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3"/>
          <p:cNvSpPr txBox="1"/>
          <p:nvPr/>
        </p:nvSpPr>
        <p:spPr>
          <a:xfrm>
            <a:off x="1014924" y="643714"/>
            <a:ext cx="317447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What Makes It Unique</a:t>
            </a:r>
          </a:p>
        </p:txBody>
      </p:sp>
      <p:sp>
        <p:nvSpPr>
          <p:cNvPr id="115" name="TextBox 5"/>
          <p:cNvSpPr txBox="1"/>
          <p:nvPr/>
        </p:nvSpPr>
        <p:spPr>
          <a:xfrm>
            <a:off x="1014923" y="1366665"/>
            <a:ext cx="6843626" cy="2862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Slider Mechanic – Contestants control their own stakes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Psychological Pressure – Strategy meets stress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No Walk-Away Option – Every decision counts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Compounding Rewards – Like interest, the stakes grow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Play-Along Potential – Viewers naturally test their own confidence on every question 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Couples Mode – Adds emotional tension and teamwork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endParaRPr lang="en-US" dirty="0">
              <a:solidFill>
                <a:schemeClr val="tx1"/>
              </a:solidFill>
            </a:endParaRPr>
          </a:p>
          <a:p>
            <a:pPr>
              <a:buSzPct val="100000"/>
              <a:defRPr sz="2000">
                <a:solidFill>
                  <a:srgbClr val="FFFFFF"/>
                </a:solidFill>
              </a:defRPr>
            </a:pPr>
            <a:r>
              <a:rPr lang="en-US" b="1" i="1" dirty="0">
                <a:solidFill>
                  <a:schemeClr val="tx1"/>
                </a:solidFill>
              </a:rPr>
              <a:t>Knowledge and confidence become two separate skills.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3"/>
          <p:cNvSpPr txBox="1"/>
          <p:nvPr/>
        </p:nvSpPr>
        <p:spPr>
          <a:xfrm>
            <a:off x="687748" y="481386"/>
            <a:ext cx="2763729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How It Works</a:t>
            </a:r>
          </a:p>
        </p:txBody>
      </p:sp>
      <p:sp>
        <p:nvSpPr>
          <p:cNvPr id="105" name="TextBox 5"/>
          <p:cNvSpPr txBox="1"/>
          <p:nvPr/>
        </p:nvSpPr>
        <p:spPr>
          <a:xfrm>
            <a:off x="687749" y="1204337"/>
            <a:ext cx="5408251" cy="440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12</a:t>
            </a:r>
            <a:r>
              <a:rPr lang="en-US" dirty="0">
                <a:solidFill>
                  <a:schemeClr val="tx1"/>
                </a:solidFill>
              </a:rPr>
              <a:t>-question studio game</a:t>
            </a: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Contestants choose a category each round</a:t>
            </a: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Question and answers appear first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Contestants select an answer</a:t>
            </a: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>
                <a:solidFill>
                  <a:schemeClr val="tx1"/>
                </a:solidFill>
              </a:rPr>
              <a:t>Then set </a:t>
            </a:r>
            <a:r>
              <a:rPr lang="en-US" dirty="0">
                <a:solidFill>
                  <a:schemeClr val="tx1"/>
                </a:solidFill>
              </a:rPr>
              <a:t>confidence using a real-time slider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Bank and how much they can win update visibly</a:t>
            </a: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chemeClr val="tx1"/>
                </a:solidFill>
              </a:rPr>
              <a:t>Lock in → instant reveal  </a:t>
            </a: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One “Do Over” lifeline (Questions 1-6 only) – cancels a disastrous moment and replaces the question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buSzPct val="100000"/>
              <a:defRPr sz="2000">
                <a:solidFill>
                  <a:srgbClr val="FFFFFF"/>
                </a:solidFill>
              </a:defRPr>
            </a:pPr>
            <a:r>
              <a:rPr lang="en-US" b="1" i="1" dirty="0">
                <a:solidFill>
                  <a:schemeClr val="tx1"/>
                </a:solidFill>
              </a:rPr>
              <a:t>Every decision visibly changes the contestant’s financial trajectory.</a:t>
            </a:r>
            <a:endParaRPr b="1" i="1" dirty="0">
              <a:solidFill>
                <a:schemeClr val="tx1"/>
              </a:solidFill>
            </a:endParaRPr>
          </a:p>
        </p:txBody>
      </p:sp>
      <p:sp>
        <p:nvSpPr>
          <p:cNvPr id="106" name="TextBox 2"/>
          <p:cNvSpPr txBox="1"/>
          <p:nvPr/>
        </p:nvSpPr>
        <p:spPr>
          <a:xfrm>
            <a:off x="6813987" y="2527273"/>
            <a:ext cx="4876799" cy="1169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sz="1400" dirty="0">
                <a:solidFill>
                  <a:schemeClr val="tx1"/>
                </a:solidFill>
                <a:hlinkClick r:id="rId2"/>
              </a:rPr>
              <a:t>Click </a:t>
            </a:r>
            <a:r>
              <a:rPr lang="en-US" sz="1400" dirty="0">
                <a:solidFill>
                  <a:schemeClr val="tx1"/>
                </a:solidFill>
                <a:hlinkClick r:id="rId2"/>
              </a:rPr>
              <a:t>here to watch </a:t>
            </a:r>
            <a:r>
              <a:rPr sz="1400" dirty="0">
                <a:solidFill>
                  <a:schemeClr val="tx1"/>
                </a:solidFill>
                <a:hlinkClick r:id="rId2"/>
              </a:rPr>
              <a:t>the video. </a:t>
            </a:r>
            <a:endParaRPr lang="en-US" sz="1400" dirty="0">
              <a:solidFill>
                <a:schemeClr val="tx1"/>
              </a:solidFill>
            </a:endParaRPr>
          </a:p>
          <a:p>
            <a:pPr algn="ctr">
              <a:defRPr sz="1100">
                <a:solidFill>
                  <a:srgbClr val="FFFFFF"/>
                </a:solidFill>
              </a:defRPr>
            </a:pPr>
            <a:br>
              <a:rPr lang="en-US" sz="1400" dirty="0">
                <a:solidFill>
                  <a:schemeClr val="tx1"/>
                </a:solidFill>
              </a:rPr>
            </a:br>
            <a:r>
              <a:rPr sz="1400" dirty="0">
                <a:solidFill>
                  <a:schemeClr val="tx1"/>
                </a:solidFill>
              </a:rPr>
              <a:t>See the stakes unfold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i="1" dirty="0">
                <a:solidFill>
                  <a:schemeClr val="tx1"/>
                </a:solidFill>
              </a:rPr>
              <a:t>H</a:t>
            </a:r>
            <a:r>
              <a:rPr sz="1400" i="1" dirty="0">
                <a:solidFill>
                  <a:schemeClr val="tx1"/>
                </a:solidFill>
              </a:rPr>
              <a:t>ow would you play?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3"/>
          <p:cNvSpPr txBox="1"/>
          <p:nvPr/>
        </p:nvSpPr>
        <p:spPr>
          <a:xfrm>
            <a:off x="1014923" y="643714"/>
            <a:ext cx="2763729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The Stakes</a:t>
            </a:r>
          </a:p>
        </p:txBody>
      </p:sp>
      <p:sp>
        <p:nvSpPr>
          <p:cNvPr id="110" name="TextBox 5"/>
          <p:cNvSpPr txBox="1"/>
          <p:nvPr/>
        </p:nvSpPr>
        <p:spPr>
          <a:xfrm>
            <a:off x="1014923" y="1366665"/>
            <a:ext cx="7780734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RISK and REWARD values compound over time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Early rounds build slowly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Final rounds can spike dramatically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One wrong answer can drastically reduce </a:t>
            </a:r>
            <a:r>
              <a:rPr lang="en-US" dirty="0">
                <a:solidFill>
                  <a:schemeClr val="tx1"/>
                </a:solidFill>
              </a:rPr>
              <a:t>what you can still win</a:t>
            </a: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Strategic </a:t>
            </a:r>
            <a:r>
              <a:rPr lang="en-US" dirty="0">
                <a:solidFill>
                  <a:schemeClr val="tx1"/>
                </a:solidFill>
              </a:rPr>
              <a:t>confidence management </a:t>
            </a:r>
            <a:r>
              <a:rPr dirty="0">
                <a:solidFill>
                  <a:schemeClr val="tx1"/>
                </a:solidFill>
              </a:rPr>
              <a:t>is key to maximizing winnings</a:t>
            </a:r>
          </a:p>
        </p:txBody>
      </p:sp>
      <p:graphicFrame>
        <p:nvGraphicFramePr>
          <p:cNvPr id="111" name="Chart 6"/>
          <p:cNvGraphicFramePr/>
          <p:nvPr>
            <p:extLst>
              <p:ext uri="{D42A27DB-BD31-4B8C-83A1-F6EECF244321}">
                <p14:modId xmlns:p14="http://schemas.microsoft.com/office/powerpoint/2010/main" val="4202571689"/>
              </p:ext>
            </p:extLst>
          </p:nvPr>
        </p:nvGraphicFramePr>
        <p:xfrm>
          <a:off x="3979933" y="3274738"/>
          <a:ext cx="4361817" cy="2976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2" name="TextBox 1"/>
          <p:cNvSpPr txBox="1"/>
          <p:nvPr/>
        </p:nvSpPr>
        <p:spPr>
          <a:xfrm>
            <a:off x="3837446" y="6347821"/>
            <a:ext cx="4646790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100" i="1">
                <a:solidFill>
                  <a:srgbClr val="FFFFFF"/>
                </a:solidFill>
              </a:defRPr>
            </a:lvl1pPr>
          </a:lstStyle>
          <a:p>
            <a:pPr algn="ctr"/>
            <a:r>
              <a:rPr sz="1400" dirty="0">
                <a:solidFill>
                  <a:schemeClr val="tx1"/>
                </a:solidFill>
              </a:rPr>
              <a:t>Each step intensifies the risk. The million isn’t just a number – it’s the final leap that separates legends from hesitation.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3"/>
          <p:cNvSpPr txBox="1"/>
          <p:nvPr/>
        </p:nvSpPr>
        <p:spPr>
          <a:xfrm>
            <a:off x="1014923" y="643714"/>
            <a:ext cx="2763729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Tone &amp; Host</a:t>
            </a:r>
          </a:p>
        </p:txBody>
      </p:sp>
      <p:sp>
        <p:nvSpPr>
          <p:cNvPr id="118" name="TextBox 5"/>
          <p:cNvSpPr txBox="1"/>
          <p:nvPr/>
        </p:nvSpPr>
        <p:spPr>
          <a:xfrm>
            <a:off x="1014923" y="1366665"/>
            <a:ext cx="9435364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The host is the audience’s guide through risk – sharp, quick-witted, and emotionally attuned </a:t>
            </a: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They translate confidence into consequences, narrating rising stakes with humor, empathy, and precision.</a:t>
            </a: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Keeps the energy high and the gameplay fun</a:t>
            </a:r>
          </a:p>
        </p:txBody>
      </p:sp>
      <p:sp>
        <p:nvSpPr>
          <p:cNvPr id="119" name="TextBox 2"/>
          <p:cNvSpPr txBox="1"/>
          <p:nvPr/>
        </p:nvSpPr>
        <p:spPr>
          <a:xfrm>
            <a:off x="1162250" y="3734449"/>
            <a:ext cx="928803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i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“You start the game with</a:t>
            </a:r>
            <a:r>
              <a:rPr lang="en-US" dirty="0">
                <a:solidFill>
                  <a:schemeClr val="tx1"/>
                </a:solidFill>
              </a:rPr>
              <a:t> money in the bank.</a:t>
            </a:r>
            <a:r>
              <a:rPr dirty="0">
                <a:solidFill>
                  <a:schemeClr val="tx1"/>
                </a:solidFill>
              </a:rPr>
              <a:t> The producer says that’s for putting up with me.”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“</a:t>
            </a:r>
            <a:r>
              <a:rPr lang="en-US" dirty="0">
                <a:solidFill>
                  <a:schemeClr val="tx1"/>
                </a:solidFill>
              </a:rPr>
              <a:t>I wouldn’t </a:t>
            </a:r>
            <a:r>
              <a:rPr dirty="0">
                <a:solidFill>
                  <a:schemeClr val="tx1"/>
                </a:solidFill>
              </a:rPr>
              <a:t>worry about the money – I get paid the same no matter how you do.”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3"/>
          <p:cNvSpPr txBox="1"/>
          <p:nvPr/>
        </p:nvSpPr>
        <p:spPr>
          <a:xfrm>
            <a:off x="1014923" y="643714"/>
            <a:ext cx="276372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Audience &amp; Appeal</a:t>
            </a:r>
          </a:p>
        </p:txBody>
      </p:sp>
      <p:sp>
        <p:nvSpPr>
          <p:cNvPr id="122" name="TextBox 5"/>
          <p:cNvSpPr txBox="1"/>
          <p:nvPr/>
        </p:nvSpPr>
        <p:spPr>
          <a:xfrm>
            <a:off x="1014922" y="1366665"/>
            <a:ext cx="7171135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Ages 18-49, broad gender appeal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Trivia fans, </a:t>
            </a:r>
            <a:r>
              <a:rPr lang="en-US" dirty="0">
                <a:solidFill>
                  <a:schemeClr val="tx1"/>
                </a:solidFill>
              </a:rPr>
              <a:t>strategy gamers, risk-takers</a:t>
            </a:r>
            <a:r>
              <a:rPr dirty="0">
                <a:solidFill>
                  <a:schemeClr val="tx1"/>
                </a:solidFill>
              </a:rPr>
              <a:t>, and casual viewers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endParaRPr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Viewers</a:t>
            </a:r>
            <a:r>
              <a:rPr lang="en-US" dirty="0">
                <a:solidFill>
                  <a:schemeClr val="tx1"/>
                </a:solidFill>
              </a:rPr>
              <a:t> don’t just watch the game – they play along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Every question sparks debate: </a:t>
            </a:r>
            <a:r>
              <a:rPr i="1" dirty="0">
                <a:solidFill>
                  <a:schemeClr val="tx1"/>
                </a:solidFill>
              </a:rPr>
              <a:t>“What would you have done?”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The show naturally generates social buzz, strategy discussion, and repeat viewing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3"/>
          <p:cNvSpPr txBox="1"/>
          <p:nvPr/>
        </p:nvSpPr>
        <p:spPr>
          <a:xfrm>
            <a:off x="1014923" y="643714"/>
            <a:ext cx="2763729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Set &amp; Visual Style</a:t>
            </a:r>
          </a:p>
        </p:txBody>
      </p:sp>
      <p:sp>
        <p:nvSpPr>
          <p:cNvPr id="125" name="TextBox 5"/>
          <p:cNvSpPr txBox="1"/>
          <p:nvPr/>
        </p:nvSpPr>
        <p:spPr>
          <a:xfrm>
            <a:off x="1014923" y="1366665"/>
            <a:ext cx="6803196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Sleek, modern set with a central slider control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Real-time graphics show RISK, REWARD, and trajectory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Countdown timer and dramatic lighting build tension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Designed for high visual impact and audience immersion</a:t>
            </a:r>
          </a:p>
        </p:txBody>
      </p:sp>
      <p:pic>
        <p:nvPicPr>
          <p:cNvPr id="12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605" y="2781568"/>
            <a:ext cx="5895773" cy="39305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3"/>
          <p:cNvSpPr txBox="1"/>
          <p:nvPr/>
        </p:nvSpPr>
        <p:spPr>
          <a:xfrm>
            <a:off x="1014923" y="643714"/>
            <a:ext cx="2763729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Spin-Off Potential</a:t>
            </a:r>
          </a:p>
        </p:txBody>
      </p:sp>
      <p:sp>
        <p:nvSpPr>
          <p:cNvPr id="129" name="TextBox 5"/>
          <p:cNvSpPr txBox="1"/>
          <p:nvPr/>
        </p:nvSpPr>
        <p:spPr>
          <a:xfrm>
            <a:off x="1014923" y="1366665"/>
            <a:ext cx="6866334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Couples Edition – Shared decision-making and drama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High Stakes Week – Bigger prizes, tougher questions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International format potential with localized trivia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Celebrity Edition – Famous players risk winnings for charity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4"/>
          <p:cNvSpPr txBox="1"/>
          <p:nvPr/>
        </p:nvSpPr>
        <p:spPr>
          <a:xfrm>
            <a:off x="2909676" y="1857759"/>
            <a:ext cx="7227213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It’s more than a trivia game.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It’s a test of nerve, knowledge, and how far you’re willing to go.</a:t>
            </a:r>
          </a:p>
        </p:txBody>
      </p:sp>
      <p:sp>
        <p:nvSpPr>
          <p:cNvPr id="133" name="TextBox 5"/>
          <p:cNvSpPr txBox="1"/>
          <p:nvPr/>
        </p:nvSpPr>
        <p:spPr>
          <a:xfrm>
            <a:off x="2586949" y="4823926"/>
            <a:ext cx="78726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Created by: Eddie Lawhorn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📧 eddielawhorn@</a:t>
            </a:r>
            <a:r>
              <a:rPr lang="en-US" dirty="0">
                <a:solidFill>
                  <a:schemeClr val="tx1"/>
                </a:solidFill>
              </a:rPr>
              <a:t>bellsouth</a:t>
            </a:r>
            <a:r>
              <a:rPr dirty="0">
                <a:solidFill>
                  <a:schemeClr val="tx1"/>
                </a:solidFill>
              </a:rPr>
              <a:t>.com | 📞 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dirty="0">
                <a:solidFill>
                  <a:schemeClr val="tx1"/>
                </a:solidFill>
              </a:rPr>
              <a:t>256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dirty="0">
                <a:solidFill>
                  <a:schemeClr val="tx1"/>
                </a:solidFill>
              </a:rPr>
              <a:t>975-2238 | 🌐 eddielawhorn.com</a:t>
            </a:r>
          </a:p>
        </p:txBody>
      </p:sp>
      <p:sp>
        <p:nvSpPr>
          <p:cNvPr id="134" name="TextBox 1"/>
          <p:cNvSpPr txBox="1"/>
          <p:nvPr/>
        </p:nvSpPr>
        <p:spPr>
          <a:xfrm>
            <a:off x="4033007" y="3570982"/>
            <a:ext cx="498055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100" i="1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600" b="1" dirty="0">
                <a:solidFill>
                  <a:schemeClr val="tx1"/>
                </a:solidFill>
              </a:rPr>
              <a:t>working prototype </a:t>
            </a:r>
            <a:r>
              <a:rPr lang="en-US" sz="1600" dirty="0">
                <a:solidFill>
                  <a:schemeClr val="tx1"/>
                </a:solidFill>
              </a:rPr>
              <a:t>demonstrates the real-time risk system and evolving earning trajectory at: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hlinkClick r:id="rId2"/>
              </a:rPr>
              <a:t>https://eddielawhorn.com/risk-vs-reward/game</a:t>
            </a:r>
            <a:r>
              <a:rPr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462CA-6085-2C44-3E3A-A6F60A8AEE2A}"/>
              </a:ext>
            </a:extLst>
          </p:cNvPr>
          <p:cNvSpPr txBox="1"/>
          <p:nvPr/>
        </p:nvSpPr>
        <p:spPr>
          <a:xfrm>
            <a:off x="3415296" y="584956"/>
            <a:ext cx="6215972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5400" b="1" i="1">
                <a:solidFill>
                  <a:srgbClr val="FF0000"/>
                </a:solidFill>
              </a:defRPr>
            </a:pPr>
            <a:r>
              <a:rPr sz="6000" dirty="0"/>
              <a:t>RISK</a:t>
            </a:r>
            <a:r>
              <a:rPr sz="6000" dirty="0">
                <a:solidFill>
                  <a:srgbClr val="000000"/>
                </a:solidFill>
              </a:rPr>
              <a:t> </a:t>
            </a:r>
            <a:r>
              <a:rPr sz="6000" dirty="0">
                <a:solidFill>
                  <a:schemeClr val="tx1"/>
                </a:solidFill>
              </a:rPr>
              <a:t>vs. </a:t>
            </a:r>
            <a:r>
              <a:rPr sz="6000" dirty="0">
                <a:solidFill>
                  <a:srgbClr val="00B050"/>
                </a:solidFill>
              </a:rPr>
              <a:t>REWARD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333333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824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Lawhorn, Edward T CTR (US)</dc:creator>
  <cp:lastModifiedBy>Lawhorn, Edward T CTR USARMY DEVCOM AVMC (USA)</cp:lastModifiedBy>
  <cp:revision>4</cp:revision>
  <dcterms:modified xsi:type="dcterms:W3CDTF">2026-06-24T13:48:46Z</dcterms:modified>
</cp:coreProperties>
</file>