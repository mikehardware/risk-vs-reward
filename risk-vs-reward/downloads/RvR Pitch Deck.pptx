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media/media1.mov" ContentType="video/unknown"/>
  <Override PartName="/ppt/charts/chart1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595959"/>
                </a:solidFill>
                <a:latin typeface="Aptos"/>
              </a:defRPr>
            </a:pPr>
            <a:r>
              <a:rPr b="0" i="0" strike="noStrike" sz="1400" u="none">
                <a:solidFill>
                  <a:srgbClr val="595959"/>
                </a:solidFill>
                <a:latin typeface="Aptos"/>
              </a:rPr>
              <a:t>Path to the Million</a:t>
            </a:r>
          </a:p>
        </c:rich>
      </c:tx>
      <c:layout>
        <c:manualLayout>
          <c:xMode val="edge"/>
          <c:yMode val="edge"/>
          <c:x val="0.337994"/>
          <c:y val="0"/>
          <c:w val="0.324013"/>
          <c:h val="0.119467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198152"/>
          <c:y val="0.119467"/>
          <c:w val="0.796848"/>
          <c:h val="0.80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Series2</c:v>
                </c:pt>
              </c:strCache>
            </c:strRef>
          </c:tx>
          <c:spPr>
            <a:solidFill>
              <a:schemeClr val="accent3"/>
            </a:solidFill>
            <a:ln w="28575" cap="rnd">
              <a:solidFill>
                <a:schemeClr val="accent3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chemeClr val="accent3"/>
              </a:solidFill>
              <a:ln w="9525" cap="flat">
                <a:solidFill>
                  <a:schemeClr val="accent3"/>
                </a:solidFill>
                <a:prstDash val="solid"/>
                <a:miter lim="800000"/>
              </a:ln>
              <a:effectLst/>
            </c:spPr>
          </c:marker>
          <c:dLbls>
            <c:numFmt formatCode="0.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ptos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ptCount val="12"/>
                <c:pt idx="0">
                  <c:v>1000.000000</c:v>
                </c:pt>
                <c:pt idx="1">
                  <c:v>1873.820000</c:v>
                </c:pt>
                <c:pt idx="2">
                  <c:v>3511.190000</c:v>
                </c:pt>
                <c:pt idx="3">
                  <c:v>6579.330000</c:v>
                </c:pt>
                <c:pt idx="4">
                  <c:v>12328.470000</c:v>
                </c:pt>
                <c:pt idx="5">
                  <c:v>23101.300000</c:v>
                </c:pt>
                <c:pt idx="6">
                  <c:v>43287.610000</c:v>
                </c:pt>
                <c:pt idx="7">
                  <c:v>81113.080000</c:v>
                </c:pt>
                <c:pt idx="8">
                  <c:v>151991.110000</c:v>
                </c:pt>
                <c:pt idx="9">
                  <c:v>284803.590000</c:v>
                </c:pt>
                <c:pt idx="10">
                  <c:v>533669.920000</c:v>
                </c:pt>
                <c:pt idx="11">
                  <c:v>1000000.000000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595959"/>
                </a:solidFill>
                <a:latin typeface="Aptos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  <c:max val="1e+06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.0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595959"/>
                </a:solidFill>
                <a:latin typeface="Aptos"/>
              </a:defRPr>
            </a:pPr>
          </a:p>
        </c:txPr>
        <c:crossAx val="2094734552"/>
        <c:crosses val="autoZero"/>
        <c:crossBetween val="between"/>
        <c:majorUnit val="250000"/>
        <c:minorUnit val="125000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solidFill>
      <a:srgbClr val="D9F2D0"/>
    </a:solidFill>
    <a:ln w="12700" cap="flat">
      <a:solidFill>
        <a:srgbClr val="D9D9D9"/>
      </a:solidFill>
      <a:prstDash val="solid"/>
      <a:round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333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tif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3" Type="http://schemas.microsoft.com/office/2007/relationships/media" Target="../media/media1.mov"/><Relationship Id="rId4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3"/>
          <p:cNvSpPr txBox="1"/>
          <p:nvPr/>
        </p:nvSpPr>
        <p:spPr>
          <a:xfrm>
            <a:off x="3544018" y="1067189"/>
            <a:ext cx="5623561" cy="174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i="1" sz="5400">
                <a:solidFill>
                  <a:srgbClr val="FF0000"/>
                </a:solidFill>
              </a:defRPr>
            </a:pPr>
            <a:r>
              <a:t>RISK</a:t>
            </a:r>
            <a:r>
              <a:rPr>
                <a:solidFill>
                  <a:srgbClr val="0000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vs. </a:t>
            </a:r>
            <a:r>
              <a:rPr>
                <a:solidFill>
                  <a:srgbClr val="00B050"/>
                </a:solidFill>
              </a:rPr>
              <a:t>REWARD</a:t>
            </a:r>
          </a:p>
        </p:txBody>
      </p:sp>
      <p:sp>
        <p:nvSpPr>
          <p:cNvPr id="95" name="TextBox 4"/>
          <p:cNvSpPr txBox="1"/>
          <p:nvPr/>
        </p:nvSpPr>
        <p:spPr>
          <a:xfrm>
            <a:off x="3149882" y="2705878"/>
            <a:ext cx="6215972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2000">
                <a:solidFill>
                  <a:srgbClr val="FFFFFF"/>
                </a:solidFill>
              </a:defRPr>
            </a:lvl1pPr>
          </a:lstStyle>
          <a:p>
            <a:pPr/>
            <a:r>
              <a:t>“Every answer is a gamble. Every gamble is a choice.”</a:t>
            </a:r>
          </a:p>
        </p:txBody>
      </p:sp>
      <p:sp>
        <p:nvSpPr>
          <p:cNvPr id="96" name="TextBox 5"/>
          <p:cNvSpPr txBox="1"/>
          <p:nvPr/>
        </p:nvSpPr>
        <p:spPr>
          <a:xfrm>
            <a:off x="2810884" y="4823926"/>
            <a:ext cx="7089827" cy="1082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Created by: Eddie Lawhorn</a:t>
            </a:r>
            <a:br/>
            <a:r>
              <a:t>📧 eddie.lawhorn.author@gmail.com | 📞 256-975-2238 | 🌐 eddielawhorn.com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3"/>
          <p:cNvSpPr txBox="1"/>
          <p:nvPr/>
        </p:nvSpPr>
        <p:spPr>
          <a:xfrm>
            <a:off x="1014923" y="643714"/>
            <a:ext cx="2763729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Concept Overview</a:t>
            </a:r>
          </a:p>
        </p:txBody>
      </p:sp>
      <p:sp>
        <p:nvSpPr>
          <p:cNvPr id="99" name="TextBox 9"/>
          <p:cNvSpPr txBox="1"/>
          <p:nvPr/>
        </p:nvSpPr>
        <p:spPr>
          <a:xfrm>
            <a:off x="1014923" y="1617044"/>
            <a:ext cx="3546909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/>
            <a:r>
              <a:t>What is RISK vs. REWARD?</a:t>
            </a:r>
          </a:p>
        </p:txBody>
      </p:sp>
      <p:sp>
        <p:nvSpPr>
          <p:cNvPr id="100" name="TextBox 11"/>
          <p:cNvSpPr txBox="1"/>
          <p:nvPr/>
        </p:nvSpPr>
        <p:spPr>
          <a:xfrm>
            <a:off x="1014923" y="2475131"/>
            <a:ext cx="5408252" cy="3444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A high-stakes trivia game show where contestants control their fate using a dynamic RISK/REWARD slider.</a:t>
            </a:r>
          </a:p>
          <a:p>
            <a:pPr>
              <a:defRPr>
                <a:solidFill>
                  <a:srgbClr val="FFFFFF"/>
                </a:solidFill>
              </a:defRPr>
            </a:pPr>
          </a:p>
          <a:p>
            <a:pPr>
              <a:defRPr>
                <a:solidFill>
                  <a:srgbClr val="FFFFFF"/>
                </a:solidFill>
              </a:defRPr>
            </a:pPr>
            <a:r>
              <a:t>Each of 12 questions lets them choose a category and set how much they’re willing to risk – and how much they stand to gain.</a:t>
            </a:r>
          </a:p>
          <a:p>
            <a:pPr>
              <a:defRPr>
                <a:solidFill>
                  <a:srgbClr val="FFFFFF"/>
                </a:solidFill>
              </a:defRPr>
            </a:pPr>
          </a:p>
          <a:p>
            <a:pPr>
              <a:defRPr>
                <a:solidFill>
                  <a:srgbClr val="FFFFFF"/>
                </a:solidFill>
              </a:defRPr>
            </a:pPr>
            <a:r>
              <a:t>The more they risk, the more they can win… or lose.</a:t>
            </a:r>
          </a:p>
          <a:p>
            <a:pPr>
              <a:defRPr>
                <a:solidFill>
                  <a:srgbClr val="FFFFFF"/>
                </a:solidFill>
              </a:defRPr>
            </a:pPr>
          </a:p>
          <a:p>
            <a:pPr>
              <a:defRPr>
                <a:solidFill>
                  <a:srgbClr val="FFFFFF"/>
                </a:solidFill>
              </a:defRPr>
            </a:pPr>
            <a:r>
              <a:t>At maximum risk, a perfect game earns $1,000,000. Miss every question? You still walk away with $0.01.</a:t>
            </a:r>
          </a:p>
        </p:txBody>
      </p:sp>
      <p:sp>
        <p:nvSpPr>
          <p:cNvPr id="101" name="TextBox 1"/>
          <p:cNvSpPr txBox="1"/>
          <p:nvPr/>
        </p:nvSpPr>
        <p:spPr>
          <a:xfrm>
            <a:off x="7425445" y="212826"/>
            <a:ext cx="403102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A deceptively easy question… worth a million dollars. </a:t>
            </a:r>
            <a:br/>
            <a:r>
              <a:t>Would you know it – or how much would you RISK?</a:t>
            </a:r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510880" y="684653"/>
            <a:ext cx="5591304" cy="57721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3"/>
          <p:cNvSpPr txBox="1"/>
          <p:nvPr/>
        </p:nvSpPr>
        <p:spPr>
          <a:xfrm>
            <a:off x="1014923" y="643714"/>
            <a:ext cx="276372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How It Works</a:t>
            </a:r>
          </a:p>
        </p:txBody>
      </p:sp>
      <p:sp>
        <p:nvSpPr>
          <p:cNvPr id="105" name="TextBox 5"/>
          <p:cNvSpPr txBox="1"/>
          <p:nvPr/>
        </p:nvSpPr>
        <p:spPr>
          <a:xfrm>
            <a:off x="1014924" y="1366665"/>
            <a:ext cx="5408251" cy="313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12 multiple-choice questions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Choose from a fixed set of 13 trivia categories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Adjust the RISK/REWARD slider before each answer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One “Do Over” lifeline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No walking away – every question must be answered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Timer locks in your answer and slider if time runs out</a:t>
            </a:r>
          </a:p>
        </p:txBody>
      </p:sp>
      <p:sp>
        <p:nvSpPr>
          <p:cNvPr id="106" name="TextBox 2"/>
          <p:cNvSpPr txBox="1"/>
          <p:nvPr/>
        </p:nvSpPr>
        <p:spPr>
          <a:xfrm>
            <a:off x="7242128" y="126616"/>
            <a:ext cx="3991489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Click the video. See the stakes unfold – how would </a:t>
            </a:r>
            <a:r>
              <a:rPr i="1"/>
              <a:t>you</a:t>
            </a:r>
            <a:r>
              <a:t> play?</a:t>
            </a:r>
          </a:p>
        </p:txBody>
      </p:sp>
      <p:pic>
        <p:nvPicPr>
          <p:cNvPr id="107" name="Q1forPitchDeck.mov" descr="Q1forPitchDeck.mov"/>
          <p:cNvPicPr>
            <a:picLocks noChangeAspect="0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>
            <a:extLst/>
          </a:blip>
          <a:stretch>
            <a:fillRect/>
          </a:stretch>
        </p:blipFill>
        <p:spPr>
          <a:xfrm>
            <a:off x="6371604" y="481386"/>
            <a:ext cx="5732536" cy="62006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nodeType="clickEffect" presetSubtype="0" presetID="1" grpId="1" fill="hold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554" fill="hold"/>
                                        <p:tgtEl>
                                          <p:spTgt spid="10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 fullScrn="0">
              <p:cMediaNode mute="0" showWhenStopped="1" numSld="1" vol="100000">
                <p:cTn id="7" fill="hold" display="0">
                  <p:stCondLst>
                    <p:cond delay="indefinite"/>
                  </p:stCondLst>
                </p:cTn>
                <p:tgtEl>
                  <p:spTgt spid="107"/>
                </p:tgtEl>
              </p:cMediaNode>
            </p:video>
            <p:seq concurrent="1" prevAc="none" nextAc="seek">
              <p:cTn id="8" evtFilter="cancelBubble" nodeType="interactiveSeq" restart="whenNotActive" fill="hold">
                <p:stCondLst>
                  <p:cond delay="0" evt="onClick">
                    <p:tgtEl>
                      <p:spTgt spid="107"/>
                    </p:tgtEl>
                  </p:cond>
                </p:stCondLst>
                <p:endSync delay="0" evt="end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mediacall" nodeType="clickEffect" presetSubtype="0" presetID="2" fill="hold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delay="0" evt="onClick">
                  <p:tgtEl>
                    <p:spTgt spid="10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3"/>
          <p:cNvSpPr txBox="1"/>
          <p:nvPr/>
        </p:nvSpPr>
        <p:spPr>
          <a:xfrm>
            <a:off x="1014923" y="643714"/>
            <a:ext cx="276372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The Stakes</a:t>
            </a:r>
          </a:p>
        </p:txBody>
      </p:sp>
      <p:sp>
        <p:nvSpPr>
          <p:cNvPr id="110" name="TextBox 5"/>
          <p:cNvSpPr txBox="1"/>
          <p:nvPr/>
        </p:nvSpPr>
        <p:spPr>
          <a:xfrm>
            <a:off x="1014923" y="1366665"/>
            <a:ext cx="6533296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RISK and REWARD values compound over time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Early rounds build slowly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Final rounds can spike dramatically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One wrong answer can drastically reduce your total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Strategic slider use is key to maximizing winnings</a:t>
            </a:r>
          </a:p>
        </p:txBody>
      </p:sp>
      <p:graphicFrame>
        <p:nvGraphicFramePr>
          <p:cNvPr id="111" name="Chart 6"/>
          <p:cNvGraphicFramePr/>
          <p:nvPr/>
        </p:nvGraphicFramePr>
        <p:xfrm>
          <a:off x="3772768" y="3274738"/>
          <a:ext cx="4361817" cy="297656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" name="TextBox 1"/>
          <p:cNvSpPr txBox="1"/>
          <p:nvPr/>
        </p:nvSpPr>
        <p:spPr>
          <a:xfrm>
            <a:off x="4031481" y="6347821"/>
            <a:ext cx="3844391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solidFill>
                  <a:srgbClr val="FFFFFF"/>
                </a:solidFill>
              </a:defRPr>
            </a:lvl1pPr>
          </a:lstStyle>
          <a:p>
            <a:pPr/>
            <a:r>
              <a:t>Each step intensifies the risk. The million isn’t just a number – it’s the final leap that separates legends from hesitation.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3"/>
          <p:cNvSpPr txBox="1"/>
          <p:nvPr/>
        </p:nvSpPr>
        <p:spPr>
          <a:xfrm>
            <a:off x="1014924" y="643714"/>
            <a:ext cx="3174473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What Makes It Unique</a:t>
            </a:r>
          </a:p>
        </p:txBody>
      </p:sp>
      <p:sp>
        <p:nvSpPr>
          <p:cNvPr id="115" name="TextBox 5"/>
          <p:cNvSpPr txBox="1"/>
          <p:nvPr/>
        </p:nvSpPr>
        <p:spPr>
          <a:xfrm>
            <a:off x="1014923" y="1366665"/>
            <a:ext cx="6843626" cy="161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Slider Mechanic – Contestants control their own stakes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Psychological Pressure – Strategy meets stress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No Walk-Away Option – Every decision counts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Compounding Rewards – Like interest, the stakes grow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Couples Mode – Adds emotional tension and teamwork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3"/>
          <p:cNvSpPr txBox="1"/>
          <p:nvPr/>
        </p:nvSpPr>
        <p:spPr>
          <a:xfrm>
            <a:off x="1014923" y="643714"/>
            <a:ext cx="276372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Tone &amp; Host</a:t>
            </a:r>
          </a:p>
        </p:txBody>
      </p:sp>
      <p:sp>
        <p:nvSpPr>
          <p:cNvPr id="118" name="TextBox 5"/>
          <p:cNvSpPr txBox="1"/>
          <p:nvPr/>
        </p:nvSpPr>
        <p:spPr>
          <a:xfrm>
            <a:off x="1014923" y="1366665"/>
            <a:ext cx="6533296" cy="1005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Charismatic, lightly comedic host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Balances tension with humor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Keeps the energy high and the gameplay fun</a:t>
            </a:r>
          </a:p>
        </p:txBody>
      </p:sp>
      <p:sp>
        <p:nvSpPr>
          <p:cNvPr id="119" name="TextBox 2"/>
          <p:cNvSpPr txBox="1"/>
          <p:nvPr/>
        </p:nvSpPr>
        <p:spPr>
          <a:xfrm>
            <a:off x="1162250" y="2849078"/>
            <a:ext cx="8494407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i="1">
                <a:solidFill>
                  <a:srgbClr val="FFFFFF"/>
                </a:solidFill>
              </a:defRPr>
            </a:pPr>
            <a:r>
              <a:t>“You start the game with $533.67. The producer says that’s for putting up with me.”</a:t>
            </a:r>
            <a:br/>
            <a:r>
              <a:t>“Don’t worry about the money – I get paid the same no matter how you do.”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3"/>
          <p:cNvSpPr txBox="1"/>
          <p:nvPr/>
        </p:nvSpPr>
        <p:spPr>
          <a:xfrm>
            <a:off x="1014923" y="643714"/>
            <a:ext cx="2763729" cy="828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Audience &amp; Appeal</a:t>
            </a:r>
          </a:p>
        </p:txBody>
      </p:sp>
      <p:sp>
        <p:nvSpPr>
          <p:cNvPr id="122" name="TextBox 5"/>
          <p:cNvSpPr txBox="1"/>
          <p:nvPr/>
        </p:nvSpPr>
        <p:spPr>
          <a:xfrm>
            <a:off x="1014923" y="1366665"/>
            <a:ext cx="6533296" cy="1310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Ages 18-49, broad gender appeal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Trivia fans, gamblers, strategists, and casual viewers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Viewers love debating: “What would you have done?”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Build-in social buzz and replay value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3"/>
          <p:cNvSpPr txBox="1"/>
          <p:nvPr/>
        </p:nvSpPr>
        <p:spPr>
          <a:xfrm>
            <a:off x="1014923" y="643714"/>
            <a:ext cx="276372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Set &amp; Visual Style</a:t>
            </a:r>
          </a:p>
        </p:txBody>
      </p:sp>
      <p:sp>
        <p:nvSpPr>
          <p:cNvPr id="125" name="TextBox 5"/>
          <p:cNvSpPr txBox="1"/>
          <p:nvPr/>
        </p:nvSpPr>
        <p:spPr>
          <a:xfrm>
            <a:off x="1014923" y="1366665"/>
            <a:ext cx="6803196" cy="1310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Sleek, modern set with a central slider control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Real-time graphics show RISK, REWARD, and trajectory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Countdown timer and dramatic lighting build tension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Designed for high visual impact and audience immersion</a:t>
            </a:r>
          </a:p>
        </p:txBody>
      </p:sp>
      <p:pic>
        <p:nvPicPr>
          <p:cNvPr id="126" name="Picture 6" descr="Picture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41605" y="2781568"/>
            <a:ext cx="5895773" cy="39305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Box 3"/>
          <p:cNvSpPr txBox="1"/>
          <p:nvPr/>
        </p:nvSpPr>
        <p:spPr>
          <a:xfrm>
            <a:off x="1014923" y="643714"/>
            <a:ext cx="2763729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/>
            <a:r>
              <a:t>Spin-Off Potential</a:t>
            </a:r>
          </a:p>
        </p:txBody>
      </p:sp>
      <p:sp>
        <p:nvSpPr>
          <p:cNvPr id="129" name="TextBox 5"/>
          <p:cNvSpPr txBox="1"/>
          <p:nvPr/>
        </p:nvSpPr>
        <p:spPr>
          <a:xfrm>
            <a:off x="1014923" y="1366665"/>
            <a:ext cx="6533296" cy="1005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Couples Edition – Shared decision-making and drama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High Stakes Week – Bigger prizes, tougher questions</a:t>
            </a:r>
          </a:p>
          <a:p>
            <a:pPr marL="285750" indent="-285750">
              <a:buSzPct val="100000"/>
              <a:buFont typeface="Arial"/>
              <a:buChar char="•"/>
              <a:defRPr sz="2000">
                <a:solidFill>
                  <a:srgbClr val="FFFFFF"/>
                </a:solidFill>
              </a:defRPr>
            </a:pPr>
            <a:r>
              <a:t>International format potential with localized trivia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3"/>
          <p:cNvSpPr txBox="1"/>
          <p:nvPr/>
        </p:nvSpPr>
        <p:spPr>
          <a:xfrm>
            <a:off x="3544018" y="1067189"/>
            <a:ext cx="5623561" cy="174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b="1" i="1" sz="5400">
                <a:solidFill>
                  <a:srgbClr val="FF0000"/>
                </a:solidFill>
              </a:defRPr>
            </a:pPr>
            <a:r>
              <a:t>RISK</a:t>
            </a:r>
            <a:r>
              <a:rPr>
                <a:solidFill>
                  <a:srgbClr val="0000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vs. </a:t>
            </a:r>
            <a:r>
              <a:rPr>
                <a:solidFill>
                  <a:srgbClr val="00B050"/>
                </a:solidFill>
              </a:rPr>
              <a:t>REWARD</a:t>
            </a:r>
          </a:p>
        </p:txBody>
      </p:sp>
      <p:sp>
        <p:nvSpPr>
          <p:cNvPr id="132" name="TextBox 4"/>
          <p:cNvSpPr txBox="1"/>
          <p:nvPr/>
        </p:nvSpPr>
        <p:spPr>
          <a:xfrm>
            <a:off x="2950139" y="2721113"/>
            <a:ext cx="7227213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i="1" sz="2000">
                <a:solidFill>
                  <a:srgbClr val="FFFFFF"/>
                </a:solidFill>
              </a:defRPr>
            </a:pPr>
            <a:r>
              <a:t>It’s more than a trivia game.</a:t>
            </a:r>
            <a:br/>
            <a:r>
              <a:t>It’s a test of nerve, knowledge, and how far you’re willing to go.</a:t>
            </a:r>
          </a:p>
        </p:txBody>
      </p:sp>
      <p:sp>
        <p:nvSpPr>
          <p:cNvPr id="133" name="TextBox 5"/>
          <p:cNvSpPr txBox="1"/>
          <p:nvPr/>
        </p:nvSpPr>
        <p:spPr>
          <a:xfrm>
            <a:off x="2810884" y="4823926"/>
            <a:ext cx="7089827" cy="1082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Created by: Eddie Lawhorn</a:t>
            </a:r>
            <a:br/>
            <a:r>
              <a:t>📧 eddie.lawhorn.author@gmail.com | 📞 256-975-2238 | 🌐 eddielawhorn.com</a:t>
            </a:r>
          </a:p>
        </p:txBody>
      </p:sp>
      <p:sp>
        <p:nvSpPr>
          <p:cNvPr id="134" name="TextBox 1"/>
          <p:cNvSpPr txBox="1"/>
          <p:nvPr/>
        </p:nvSpPr>
        <p:spPr>
          <a:xfrm>
            <a:off x="4004828" y="4331368"/>
            <a:ext cx="4701941" cy="256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100">
                <a:solidFill>
                  <a:srgbClr val="FFFFFF"/>
                </a:solidFill>
              </a:defRPr>
            </a:lvl1pPr>
          </a:lstStyle>
          <a:p>
            <a:pPr/>
            <a:r>
              <a:t>A working prototype is available for hands-on demonstration upon request.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33333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